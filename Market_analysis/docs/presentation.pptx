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490"/>
  </p:normalViewPr>
  <p:slideViewPr>
    <p:cSldViewPr snapToGrid="0">
      <p:cViewPr varScale="1">
        <p:scale>
          <a:sx n="93" d="100"/>
          <a:sy n="93" d="100"/>
        </p:scale>
        <p:origin x="18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61B3F-8C32-A444-8411-EEE5FBEE3DA7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480FD-7D86-1642-A036-0DEAB8E50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4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Memory &amp; State Management</a:t>
            </a:r>
            <a:endParaRPr lang="en-US" dirty="0"/>
          </a:p>
          <a:p>
            <a:r>
              <a:rPr lang="en-US" dirty="0"/>
              <a:t>Current implementation: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❌ No long-term memory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❌ No persistent state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✅ Session-based execution only</a:t>
            </a:r>
          </a:p>
          <a:p>
            <a:r>
              <a:rPr lang="en-US" dirty="0"/>
              <a:t>Future extension possibilities: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Conversation memory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Portfolio 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Vector-based knowledge 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480FD-7D86-1642-A036-0DEAB8E504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1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LLM-as-a-Judge can be used to validate the LLM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480FD-7D86-1642-A036-0DEAB8E504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10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AFEBE-BC48-B7BB-4723-DD2B44F3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D8E8D-AE80-6FD4-B06E-9F773D197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7FA29-511B-D8E2-88DB-A81482EAD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 2 — Hybrid Serverless (If No State Needed)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Frontend on </a:t>
            </a:r>
            <a:r>
              <a:rPr lang="en-US" b="1" dirty="0"/>
              <a:t>Amazon S3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Backend logic via </a:t>
            </a:r>
            <a:r>
              <a:rPr lang="en-US" b="1" dirty="0"/>
              <a:t>AWS Lambda</a:t>
            </a:r>
            <a:endParaRPr lang="en-US" dirty="0"/>
          </a:p>
          <a:p>
            <a:r>
              <a:rPr lang="en-US" dirty="0"/>
              <a:t>Best suited when: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persistent session required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Stateless design is sufficient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D712D-2482-6A91-8DC1-ECEC754BF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480FD-7D86-1642-A036-0DEAB8E504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8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B2DD-0E2F-1FDA-597A-F31025DE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A154D-AD4B-6497-C573-0E132CFC2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2C871-A0A5-CE6D-74E0-CB16AA40A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78FD9-8D9B-6EAD-A527-6A31765A3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480FD-7D86-1642-A036-0DEAB8E504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1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2EBA0-8622-33BA-75CC-01BBCB24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85616-EC33-FB88-A4EE-C801F55DF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AF382-EF6D-5B38-45D0-35AC41EA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82913-2A0F-7DE9-DA12-F78529694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480FD-7D86-1642-A036-0DEAB8E504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28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2558C-8471-B6D6-9204-FBC2C2E6C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 Analysis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CBDBB-F120-1A88-C191-F7AACCD53F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Agentic </a:t>
            </a:r>
            <a:r>
              <a:rPr lang="en-US" dirty="0" err="1"/>
              <a:t>Streamlit</a:t>
            </a:r>
            <a:r>
              <a:rPr lang="en-US" dirty="0"/>
              <a:t> Application</a:t>
            </a:r>
          </a:p>
        </p:txBody>
      </p:sp>
    </p:spTree>
    <p:extLst>
      <p:ext uri="{BB962C8B-B14F-4D97-AF65-F5344CB8AC3E}">
        <p14:creationId xmlns:p14="http://schemas.microsoft.com/office/powerpoint/2010/main" val="2430596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F56D-3DFF-0613-5AE8-158A6355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Value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18E04-4372-0740-A57A-82F8A1D97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128101" cy="35935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🎯 What problem are we solving?</a:t>
            </a:r>
          </a:p>
          <a:p>
            <a:r>
              <a:rPr lang="en-US" dirty="0"/>
              <a:t>Investors often need to:</a:t>
            </a:r>
          </a:p>
          <a:p>
            <a:pPr lvl="1"/>
            <a:r>
              <a:rPr lang="en-US" dirty="0"/>
              <a:t>Gather stock price data</a:t>
            </a:r>
          </a:p>
          <a:p>
            <a:pPr lvl="1"/>
            <a:r>
              <a:rPr lang="en-US" dirty="0"/>
              <a:t>Review recent financial news</a:t>
            </a:r>
          </a:p>
          <a:p>
            <a:pPr lvl="1"/>
            <a:r>
              <a:rPr lang="en-US" dirty="0"/>
              <a:t>Interpret trends</a:t>
            </a:r>
          </a:p>
          <a:p>
            <a:pPr lvl="1"/>
            <a:r>
              <a:rPr lang="en-US" dirty="0"/>
              <a:t>Formulate an investment decision</a:t>
            </a:r>
          </a:p>
          <a:p>
            <a:r>
              <a:rPr lang="en-US" dirty="0"/>
              <a:t>This process is:</a:t>
            </a:r>
          </a:p>
          <a:p>
            <a:pPr lvl="1"/>
            <a:r>
              <a:rPr lang="en-US" dirty="0"/>
              <a:t>Time-consuming</a:t>
            </a:r>
          </a:p>
          <a:p>
            <a:pPr lvl="1"/>
            <a:r>
              <a:rPr lang="en-US" dirty="0"/>
              <a:t>Fragmented across multiple platforms</a:t>
            </a:r>
          </a:p>
          <a:p>
            <a:pPr lvl="1"/>
            <a:r>
              <a:rPr lang="en-US" dirty="0"/>
              <a:t>Hard to synthesize quickly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FDA28A-A45B-7587-8698-6BB065A5CF66}"/>
              </a:ext>
            </a:extLst>
          </p:cNvPr>
          <p:cNvSpPr txBox="1">
            <a:spLocks/>
          </p:cNvSpPr>
          <p:nvPr/>
        </p:nvSpPr>
        <p:spPr>
          <a:xfrm>
            <a:off x="6606699" y="2286001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5F8198-1752-F71A-0F3E-D8E82319ECC5}"/>
              </a:ext>
            </a:extLst>
          </p:cNvPr>
          <p:cNvSpPr txBox="1">
            <a:spLocks/>
          </p:cNvSpPr>
          <p:nvPr/>
        </p:nvSpPr>
        <p:spPr>
          <a:xfrm>
            <a:off x="6606698" y="2286000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👥 Target Users</a:t>
            </a:r>
          </a:p>
          <a:p>
            <a:r>
              <a:rPr lang="en-US" dirty="0"/>
              <a:t>Financial analysts</a:t>
            </a:r>
          </a:p>
          <a:p>
            <a:r>
              <a:rPr lang="en-US" dirty="0"/>
              <a:t>Anyone evaluating publicly traded companies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💡 Value Proposition</a:t>
            </a:r>
          </a:p>
          <a:p>
            <a:r>
              <a:rPr lang="en-US" dirty="0"/>
              <a:t>Solution =&gt; The Market Analysis Tool</a:t>
            </a:r>
          </a:p>
          <a:p>
            <a:pPr lvl="1"/>
            <a:r>
              <a:rPr lang="en-US" dirty="0"/>
              <a:t>Collects relevant stock and news data automatically</a:t>
            </a:r>
          </a:p>
          <a:p>
            <a:pPr lvl="1"/>
            <a:r>
              <a:rPr lang="en-US" dirty="0"/>
              <a:t>Summarizes insights using an LLM</a:t>
            </a:r>
          </a:p>
          <a:p>
            <a:pPr lvl="1"/>
            <a:r>
              <a:rPr lang="en-US" dirty="0"/>
              <a:t>Produces a concise, tailored recommendation</a:t>
            </a:r>
          </a:p>
          <a:p>
            <a:pPr lvl="1"/>
            <a:r>
              <a:rPr lang="en-US" dirty="0"/>
              <a:t>Reduces research time significantly</a:t>
            </a:r>
          </a:p>
          <a:p>
            <a:pPr marL="0" indent="0">
              <a:buNone/>
            </a:pPr>
            <a:r>
              <a:rPr lang="en-US" dirty="0"/>
              <a:t>It transforms data overload → actionable insight.</a:t>
            </a:r>
          </a:p>
        </p:txBody>
      </p:sp>
    </p:spTree>
    <p:extLst>
      <p:ext uri="{BB962C8B-B14F-4D97-AF65-F5344CB8AC3E}">
        <p14:creationId xmlns:p14="http://schemas.microsoft.com/office/powerpoint/2010/main" val="2997235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8131-440A-1C6E-7E8D-41B0ADD67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AA76-66B6-0C08-25ED-7517CA43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4D1D5-AE25-3EEA-9309-E273F29BC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128101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Built using</a:t>
            </a:r>
          </a:p>
          <a:p>
            <a:r>
              <a:rPr lang="en-US" dirty="0" err="1"/>
              <a:t>Streamlit</a:t>
            </a:r>
            <a:endParaRPr lang="en-US" dirty="0"/>
          </a:p>
          <a:p>
            <a:r>
              <a:rPr lang="en-US" dirty="0"/>
              <a:t>GPT-4o-mini as LLM</a:t>
            </a:r>
          </a:p>
          <a:p>
            <a:r>
              <a:rPr lang="en-US" dirty="0"/>
              <a:t>Modular agent architecture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3E984D-BEFF-88E0-3392-1B1D290A6B3F}"/>
              </a:ext>
            </a:extLst>
          </p:cNvPr>
          <p:cNvSpPr txBox="1">
            <a:spLocks/>
          </p:cNvSpPr>
          <p:nvPr/>
        </p:nvSpPr>
        <p:spPr>
          <a:xfrm>
            <a:off x="6606699" y="2286001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3DA664D-9F4E-950F-8C62-D9974DAB08ED}"/>
              </a:ext>
            </a:extLst>
          </p:cNvPr>
          <p:cNvSpPr txBox="1">
            <a:spLocks/>
          </p:cNvSpPr>
          <p:nvPr/>
        </p:nvSpPr>
        <p:spPr>
          <a:xfrm>
            <a:off x="6606698" y="2286000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🧠 Agent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User submits a company-related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Agent gathers: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Stock market 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Recent company news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Data is structured and passed to the LLM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LLM generates the summary and investment-oriented recommendation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Output displayed in </a:t>
            </a:r>
            <a:r>
              <a:rPr lang="en-US" dirty="0" err="1"/>
              <a:t>Streamlit</a:t>
            </a:r>
            <a:r>
              <a:rPr lang="en-US" dirty="0"/>
              <a:t> UI</a:t>
            </a:r>
          </a:p>
        </p:txBody>
      </p:sp>
    </p:spTree>
    <p:extLst>
      <p:ext uri="{BB962C8B-B14F-4D97-AF65-F5344CB8AC3E}">
        <p14:creationId xmlns:p14="http://schemas.microsoft.com/office/powerpoint/2010/main" val="2410696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3E68-07D2-8370-4EF2-B36FC3839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24A7-0834-AD55-C3AB-0196E985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D016E-5B28-BDFE-2057-F1798C63E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128101" cy="35935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Meaning of Success</a:t>
            </a:r>
          </a:p>
          <a:p>
            <a:r>
              <a:rPr lang="en-US" dirty="0"/>
              <a:t>Functional strategy</a:t>
            </a:r>
          </a:p>
          <a:p>
            <a:pPr lvl="1"/>
            <a:r>
              <a:rPr lang="en-US" dirty="0"/>
              <a:t>Does it return the relevant stock data and news?</a:t>
            </a:r>
          </a:p>
          <a:p>
            <a:pPr lvl="1"/>
            <a:r>
              <a:rPr lang="en-US" dirty="0"/>
              <a:t>Is the recommendation coherent?</a:t>
            </a:r>
          </a:p>
          <a:p>
            <a:r>
              <a:rPr lang="en-US" dirty="0"/>
              <a:t>Reliability</a:t>
            </a:r>
          </a:p>
          <a:p>
            <a:pPr lvl="1"/>
            <a:r>
              <a:rPr lang="en-US" dirty="0"/>
              <a:t>Ratio of successful and failed recommendations</a:t>
            </a:r>
          </a:p>
          <a:p>
            <a:r>
              <a:rPr lang="en-US" dirty="0"/>
              <a:t>User value</a:t>
            </a:r>
          </a:p>
          <a:p>
            <a:pPr lvl="1"/>
            <a:r>
              <a:rPr lang="en-US" dirty="0"/>
              <a:t>Time saved vs manual search</a:t>
            </a:r>
          </a:p>
          <a:p>
            <a:pPr lvl="1"/>
            <a:r>
              <a:rPr lang="en-US" dirty="0"/>
              <a:t>Output clarity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96E0D6-BBEF-C1B7-5D7F-DBB180E39963}"/>
              </a:ext>
            </a:extLst>
          </p:cNvPr>
          <p:cNvSpPr txBox="1">
            <a:spLocks/>
          </p:cNvSpPr>
          <p:nvPr/>
        </p:nvSpPr>
        <p:spPr>
          <a:xfrm>
            <a:off x="6606699" y="2286001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684A45-AC24-D9A4-0791-B6E8A2685FE6}"/>
              </a:ext>
            </a:extLst>
          </p:cNvPr>
          <p:cNvSpPr txBox="1">
            <a:spLocks/>
          </p:cNvSpPr>
          <p:nvPr/>
        </p:nvSpPr>
        <p:spPr>
          <a:xfrm>
            <a:off x="6606698" y="2286000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📊 Monitoring &amp; Metrics</a:t>
            </a:r>
          </a:p>
          <a:p>
            <a:r>
              <a:rPr lang="en-US" dirty="0"/>
              <a:t>The application includes:</a:t>
            </a:r>
          </a:p>
          <a:p>
            <a:pPr lvl="1"/>
            <a:r>
              <a:rPr lang="en-US" dirty="0"/>
              <a:t>Session-based usage chart</a:t>
            </a:r>
          </a:p>
          <a:p>
            <a:pPr lvl="1"/>
            <a:r>
              <a:rPr lang="en-US" dirty="0"/>
              <a:t>Success vs. failed recommendation tracking</a:t>
            </a:r>
          </a:p>
          <a:p>
            <a:pPr lvl="1"/>
            <a:r>
              <a:rPr lang="en-US" dirty="0"/>
              <a:t>Threshold-based monitoring alert</a:t>
            </a:r>
          </a:p>
          <a:p>
            <a:pPr marL="0" indent="0">
              <a:buNone/>
            </a:pPr>
            <a:r>
              <a:rPr lang="en-US" dirty="0"/>
              <a:t>If failure count exceeds predefined threshold:</a:t>
            </a:r>
          </a:p>
          <a:p>
            <a:r>
              <a:rPr lang="en-US" dirty="0"/>
              <a:t>Alert can be triggered</a:t>
            </a:r>
          </a:p>
          <a:p>
            <a:pPr marL="0" indent="0">
              <a:buNone/>
            </a:pPr>
            <a:r>
              <a:rPr lang="en-US" dirty="0"/>
              <a:t>Logs can be exported to:</a:t>
            </a:r>
          </a:p>
          <a:p>
            <a:r>
              <a:rPr lang="en-US" b="1" dirty="0"/>
              <a:t>Amazon CloudWatch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44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54368-DC5B-91CA-9756-F9AFC75A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326E7-9091-7030-F887-52A70281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B6E3E-12D2-980F-96EC-77763F6E5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128101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🏗 Hosting Requirements</a:t>
            </a:r>
          </a:p>
          <a:p>
            <a:pPr marL="0" indent="0">
              <a:buNone/>
            </a:pPr>
            <a:r>
              <a:rPr lang="en-US" dirty="0" err="1"/>
              <a:t>Streamlit</a:t>
            </a:r>
            <a:r>
              <a:rPr lang="en-US" dirty="0"/>
              <a:t> requires:</a:t>
            </a:r>
          </a:p>
          <a:p>
            <a:r>
              <a:rPr lang="en-US" dirty="0"/>
              <a:t>Persistent runtime</a:t>
            </a:r>
          </a:p>
          <a:p>
            <a:r>
              <a:rPr lang="en-US" dirty="0"/>
              <a:t>Long-running service</a:t>
            </a:r>
          </a:p>
          <a:p>
            <a:r>
              <a:rPr lang="en-US" dirty="0"/>
              <a:t>Container support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067F91-A3DF-8F80-BAF8-0C87AB2BA444}"/>
              </a:ext>
            </a:extLst>
          </p:cNvPr>
          <p:cNvSpPr txBox="1">
            <a:spLocks/>
          </p:cNvSpPr>
          <p:nvPr/>
        </p:nvSpPr>
        <p:spPr>
          <a:xfrm>
            <a:off x="6606699" y="2286001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907BA-C5E7-38F2-055B-B6C0090897BE}"/>
              </a:ext>
            </a:extLst>
          </p:cNvPr>
          <p:cNvSpPr txBox="1">
            <a:spLocks/>
          </p:cNvSpPr>
          <p:nvPr/>
        </p:nvSpPr>
        <p:spPr>
          <a:xfrm>
            <a:off x="6606698" y="2286000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🚀 Recommended Architecture</a:t>
            </a:r>
          </a:p>
          <a:p>
            <a:pPr marL="0" indent="0">
              <a:buNone/>
            </a:pPr>
            <a:r>
              <a:rPr lang="en-US" b="1" dirty="0"/>
              <a:t>Option 1 — Containerized Deployment</a:t>
            </a:r>
          </a:p>
          <a:p>
            <a:r>
              <a:rPr lang="en-US" dirty="0" err="1"/>
              <a:t>Dockerized</a:t>
            </a:r>
            <a:r>
              <a:rPr lang="en-US" dirty="0"/>
              <a:t> application</a:t>
            </a:r>
          </a:p>
          <a:p>
            <a:r>
              <a:rPr lang="en-US" dirty="0"/>
              <a:t>Hosted on </a:t>
            </a:r>
            <a:r>
              <a:rPr lang="en-US" b="1" dirty="0"/>
              <a:t>Amazon EC2 or ECS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Benefits: Stability, Scalability, Predictable performance</a:t>
            </a:r>
          </a:p>
          <a:p>
            <a:pPr marL="0" indent="0">
              <a:buNone/>
            </a:pPr>
            <a:r>
              <a:rPr lang="en-US" dirty="0"/>
              <a:t>Secrets stored securely in </a:t>
            </a:r>
            <a:r>
              <a:rPr lang="en-US" b="1" dirty="0"/>
              <a:t>AWS Secrets 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64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0AE1-3AE6-EB6E-6E38-8736A240A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4153-940F-44FA-1305-FE363D51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&amp; monitoring considerations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54321-67B0-FF32-503C-19D1B1C0B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128101" cy="359359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Recommended production setup:</a:t>
            </a:r>
          </a:p>
          <a:p>
            <a:r>
              <a:rPr lang="en-US" dirty="0"/>
              <a:t>Centralized logging (CloudWatch)</a:t>
            </a:r>
          </a:p>
          <a:p>
            <a:r>
              <a:rPr lang="en-US" dirty="0"/>
              <a:t>Track:</a:t>
            </a:r>
          </a:p>
          <a:p>
            <a:pPr lvl="1"/>
            <a:r>
              <a:rPr lang="en-US" dirty="0"/>
              <a:t>LLM latency</a:t>
            </a:r>
          </a:p>
          <a:p>
            <a:pPr lvl="1"/>
            <a:r>
              <a:rPr lang="en-US" dirty="0"/>
              <a:t>Error rate</a:t>
            </a:r>
          </a:p>
          <a:p>
            <a:pPr lvl="1"/>
            <a:r>
              <a:rPr lang="en-US" dirty="0"/>
              <a:t>API failures</a:t>
            </a:r>
          </a:p>
          <a:p>
            <a:pPr lvl="1"/>
            <a:r>
              <a:rPr lang="en-US" dirty="0"/>
              <a:t>Usage frequency</a:t>
            </a:r>
          </a:p>
          <a:p>
            <a:r>
              <a:rPr lang="en-US" dirty="0"/>
              <a:t>Alerting on:</a:t>
            </a:r>
          </a:p>
          <a:p>
            <a:pPr lvl="1"/>
            <a:r>
              <a:rPr lang="en-US" dirty="0"/>
              <a:t>High failure ratio</a:t>
            </a:r>
          </a:p>
          <a:p>
            <a:pPr lvl="1"/>
            <a:r>
              <a:rPr lang="en-US" dirty="0"/>
              <a:t>Excessive latency</a:t>
            </a:r>
          </a:p>
          <a:p>
            <a:pPr lvl="1"/>
            <a:r>
              <a:rPr lang="en-US" dirty="0"/>
              <a:t>Token usage spikes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98AA26-EFCD-669D-87E3-C788946BFDD4}"/>
              </a:ext>
            </a:extLst>
          </p:cNvPr>
          <p:cNvSpPr txBox="1">
            <a:spLocks/>
          </p:cNvSpPr>
          <p:nvPr/>
        </p:nvSpPr>
        <p:spPr>
          <a:xfrm>
            <a:off x="6606699" y="2286001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5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9C1B2-8A3F-A098-9458-67039E2D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36A2-AA19-CEF9-0C42-99B4E539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App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6CF649-D902-F27B-357B-11A0477BF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6890" y="1428465"/>
            <a:ext cx="8404128" cy="504715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7DC39F-1DC8-F005-6511-8D765EE6C3E4}"/>
              </a:ext>
            </a:extLst>
          </p:cNvPr>
          <p:cNvSpPr txBox="1">
            <a:spLocks/>
          </p:cNvSpPr>
          <p:nvPr/>
        </p:nvSpPr>
        <p:spPr>
          <a:xfrm>
            <a:off x="6606699" y="2286001"/>
            <a:ext cx="512810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4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38DE3-9D3D-C354-6345-F29DBDA6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EB52D-FEB1-6372-FC21-8F3B14610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43722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17</TotalTime>
  <Words>383</Words>
  <Application>Microsoft Macintosh PowerPoint</Application>
  <PresentationFormat>Widescreen</PresentationFormat>
  <Paragraphs>103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Gill Sans MT</vt:lpstr>
      <vt:lpstr>Impact</vt:lpstr>
      <vt:lpstr>Badge</vt:lpstr>
      <vt:lpstr>Market Analysis Tool</vt:lpstr>
      <vt:lpstr>Problem &amp; Value Proposition</vt:lpstr>
      <vt:lpstr>Agent design</vt:lpstr>
      <vt:lpstr>Evaluation Strategy</vt:lpstr>
      <vt:lpstr>Deployment Plan</vt:lpstr>
      <vt:lpstr>Logging &amp; monitoring considerations </vt:lpstr>
      <vt:lpstr>Running the App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Balogh Zoltán</dc:creator>
  <cp:lastModifiedBy>Balogh Zoltán</cp:lastModifiedBy>
  <cp:revision>2</cp:revision>
  <dcterms:created xsi:type="dcterms:W3CDTF">2026-03-01T17:55:48Z</dcterms:created>
  <dcterms:modified xsi:type="dcterms:W3CDTF">2026-03-01T18:42:00Z</dcterms:modified>
</cp:coreProperties>
</file>